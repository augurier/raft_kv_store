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0" r:id="rId13"/>
    <p:sldId id="276" r:id="rId14"/>
    <p:sldId id="266" r:id="rId15"/>
    <p:sldId id="267" r:id="rId16"/>
    <p:sldId id="268" r:id="rId17"/>
    <p:sldId id="269" r:id="rId18"/>
    <p:sldId id="271" r:id="rId19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raft</a:t>
            </a:r>
            <a:r>
              <a:rPr lang="zh-CN" altLang="en-US"/>
              <a:t>系统第二次</a:t>
            </a:r>
            <a:r>
              <a:rPr lang="zh-CN" altLang="en-US"/>
              <a:t>汇报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前情提要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3600"/>
              <a:t>进程级别真实</a:t>
            </a:r>
            <a:r>
              <a:rPr lang="en-US" altLang="zh-CN" sz="3600"/>
              <a:t>rpc</a:t>
            </a:r>
            <a:r>
              <a:rPr lang="zh-CN" altLang="en-US" sz="3600"/>
              <a:t>通讯难以测试</a:t>
            </a:r>
            <a:endParaRPr lang="zh-CN" altLang="en-US" sz="3600"/>
          </a:p>
          <a:p>
            <a:endParaRPr lang="zh-CN" altLang="en-US" sz="3600"/>
          </a:p>
          <a:p>
            <a:r>
              <a:rPr lang="zh-CN" altLang="en-US" sz="3600"/>
              <a:t>切换为同时支持线程级</a:t>
            </a:r>
            <a:r>
              <a:rPr lang="en-US" altLang="zh-CN" sz="3600"/>
              <a:t>&amp;</a:t>
            </a:r>
            <a:r>
              <a:rPr lang="zh-CN" altLang="en-US" sz="3600"/>
              <a:t>进程级的系统</a:t>
            </a:r>
            <a:endParaRPr lang="zh-CN" altLang="en-US" sz="3600"/>
          </a:p>
          <a:p>
            <a:endParaRPr lang="zh-CN" altLang="en-US" sz="3600"/>
          </a:p>
          <a:p>
            <a:r>
              <a:rPr lang="zh-CN" altLang="en-US" sz="3600"/>
              <a:t>后续测试在线程级系统完成</a:t>
            </a:r>
            <a:endParaRPr lang="zh-CN" altLang="en-US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7030" y="365125"/>
            <a:ext cx="10515600" cy="1325563"/>
          </a:xfrm>
        </p:spPr>
        <p:txBody>
          <a:bodyPr/>
          <a:p>
            <a:r>
              <a:rPr lang="zh-CN" altLang="en-US"/>
              <a:t>工作进度</a:t>
            </a:r>
            <a:r>
              <a:rPr lang="zh-CN" altLang="en-US"/>
              <a:t>表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r="63980"/>
          <a:stretch>
            <a:fillRect/>
          </a:stretch>
        </p:blipFill>
        <p:spPr>
          <a:xfrm>
            <a:off x="4732655" y="226695"/>
            <a:ext cx="3805555" cy="6565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88255"/>
          <a:stretch>
            <a:fillRect/>
          </a:stretch>
        </p:blipFill>
        <p:spPr>
          <a:xfrm>
            <a:off x="9631045" y="226695"/>
            <a:ext cx="1251585" cy="662178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868045" y="5633720"/>
            <a:ext cx="32118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868045" y="5982335"/>
            <a:ext cx="23304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第一周的工作</a:t>
            </a:r>
            <a:endParaRPr lang="zh-CN" altLang="en-US" sz="2800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868045" y="3509645"/>
            <a:ext cx="32118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868045" y="4353560"/>
            <a:ext cx="23304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上次汇报</a:t>
            </a:r>
            <a:endParaRPr lang="zh-CN" altLang="en-US" sz="2800"/>
          </a:p>
        </p:txBody>
      </p:sp>
      <p:sp>
        <p:nvSpPr>
          <p:cNvPr id="11" name="文本框 10"/>
          <p:cNvSpPr txBox="1"/>
          <p:nvPr/>
        </p:nvSpPr>
        <p:spPr>
          <a:xfrm>
            <a:off x="868045" y="2143760"/>
            <a:ext cx="23304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这次汇报</a:t>
            </a:r>
            <a:endParaRPr lang="zh-CN" alt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34180" y="228600"/>
            <a:ext cx="7625715" cy="63188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6875" y="1581150"/>
            <a:ext cx="363347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一、如何修改接口，让系统支持线程</a:t>
            </a:r>
            <a:r>
              <a:rPr lang="zh-CN" altLang="en-US" sz="2800"/>
              <a:t>模拟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二、能对系统细粒度的控制后，单元测试的</a:t>
            </a:r>
            <a:r>
              <a:rPr lang="zh-CN" altLang="en-US" sz="2800"/>
              <a:t>设计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三、</a:t>
            </a:r>
            <a:r>
              <a:rPr lang="en-US" altLang="zh-CN" sz="2800"/>
              <a:t>fuzz</a:t>
            </a:r>
            <a:r>
              <a:rPr lang="zh-CN" altLang="en-US" sz="2800"/>
              <a:t>的</a:t>
            </a:r>
            <a:r>
              <a:rPr lang="zh-CN" altLang="en-US" sz="2800"/>
              <a:t>设计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四、发现的一些</a:t>
            </a:r>
            <a:r>
              <a:rPr lang="en-US" altLang="zh-CN" sz="2800"/>
              <a:t>bug</a:t>
            </a:r>
            <a:endParaRPr lang="en-US" altLang="zh-CN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一、</a:t>
            </a:r>
            <a:r>
              <a:rPr lang="en-US" altLang="zh-CN"/>
              <a:t>transport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00000"/>
              </a:lnSpc>
            </a:pPr>
            <a:r>
              <a:rPr lang="zh-CN" altLang="en-US"/>
              <a:t>将</a:t>
            </a:r>
            <a:r>
              <a:rPr lang="en-US" altLang="zh-CN"/>
              <a:t>raft</a:t>
            </a:r>
            <a:r>
              <a:rPr lang="zh-CN" altLang="en-US"/>
              <a:t>系统中，所有</a:t>
            </a:r>
            <a:r>
              <a:rPr lang="zh-CN" altLang="en-US"/>
              <a:t>涉及网络的部分提取出来，抽象为</a:t>
            </a:r>
            <a:r>
              <a:rPr lang="en-US" altLang="zh-CN"/>
              <a:t>dial</a:t>
            </a:r>
            <a:r>
              <a:rPr lang="zh-CN" altLang="en-US"/>
              <a:t>和</a:t>
            </a:r>
            <a:r>
              <a:rPr lang="en-US" altLang="zh-CN"/>
              <a:t>call</a:t>
            </a:r>
            <a:r>
              <a:rPr lang="zh-CN" altLang="en-US"/>
              <a:t>方法，作为每个</a:t>
            </a:r>
            <a:r>
              <a:rPr lang="en-US" altLang="zh-CN"/>
              <a:t>node</a:t>
            </a:r>
            <a:r>
              <a:rPr lang="zh-CN" altLang="en-US"/>
              <a:t>的接口类</a:t>
            </a:r>
            <a:r>
              <a:rPr lang="en-US" altLang="zh-CN"/>
              <a:t>transport</a:t>
            </a:r>
            <a:r>
              <a:rPr lang="zh-CN" altLang="en-US"/>
              <a:t>的两个基类方法，进程版与线程版的</a:t>
            </a:r>
            <a:r>
              <a:rPr lang="en-US" altLang="zh-CN"/>
              <a:t>transport</a:t>
            </a:r>
            <a:r>
              <a:rPr lang="zh-CN" altLang="en-US"/>
              <a:t>派生类分别</a:t>
            </a:r>
            <a:r>
              <a:rPr lang="zh-CN" altLang="en-US"/>
              <a:t>实现</a:t>
            </a:r>
            <a:endParaRPr lang="zh-CN" altLang="en-US"/>
          </a:p>
          <a:p>
            <a:endParaRPr lang="zh-CN" altLang="en-US"/>
          </a:p>
          <a:p>
            <a:pPr>
              <a:lnSpc>
                <a:spcPct val="100000"/>
              </a:lnSpc>
            </a:pPr>
            <a:r>
              <a:rPr lang="zh-CN" altLang="en-US"/>
              <a:t>节点启动时做（进程版的</a:t>
            </a:r>
            <a:r>
              <a:rPr lang="en-US" altLang="zh-CN"/>
              <a:t>main</a:t>
            </a:r>
            <a:r>
              <a:rPr lang="zh-CN" altLang="en-US"/>
              <a:t>，线程版的</a:t>
            </a:r>
            <a:r>
              <a:rPr lang="en-US" altLang="zh-CN"/>
              <a:t>node</a:t>
            </a:r>
            <a:r>
              <a:rPr lang="zh-CN" altLang="en-US"/>
              <a:t>构造函数）</a:t>
            </a:r>
            <a:r>
              <a:rPr lang="zh-CN" altLang="en-US"/>
              <a:t>进行相应的监听方法</a:t>
            </a:r>
            <a:r>
              <a:rPr lang="zh-CN" altLang="en-US"/>
              <a:t>修改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4837430"/>
            <a:ext cx="11760835" cy="1376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一、</a:t>
            </a:r>
            <a:r>
              <a:rPr lang="en-US" altLang="zh-CN"/>
              <a:t>transport </a:t>
            </a:r>
            <a:r>
              <a:rPr lang="zh-CN" altLang="en-US"/>
              <a:t>进程</a:t>
            </a:r>
            <a:r>
              <a:rPr lang="zh-CN" altLang="en-US"/>
              <a:t>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main</a:t>
            </a:r>
            <a:r>
              <a:rPr lang="zh-CN" altLang="en-US"/>
              <a:t>中注册节点</a:t>
            </a:r>
            <a:r>
              <a:rPr lang="en-US" altLang="zh-CN"/>
              <a:t>rpc</a:t>
            </a:r>
            <a:r>
              <a:rPr lang="zh-CN" altLang="en-US"/>
              <a:t>方法并开始监听，然后</a:t>
            </a:r>
            <a:r>
              <a:rPr lang="en-US" altLang="zh-CN"/>
              <a:t>start</a:t>
            </a:r>
            <a:r>
              <a:rPr lang="zh-CN" altLang="en-US"/>
              <a:t>主循环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dial</a:t>
            </a:r>
            <a:r>
              <a:rPr lang="zh-CN" altLang="en-US"/>
              <a:t>和</a:t>
            </a:r>
            <a:r>
              <a:rPr lang="en-US" altLang="zh-CN"/>
              <a:t>call</a:t>
            </a:r>
            <a:r>
              <a:rPr lang="zh-CN" altLang="en-US"/>
              <a:t>均为</a:t>
            </a:r>
            <a:r>
              <a:rPr lang="en-US" altLang="zh-CN"/>
              <a:t>go</a:t>
            </a:r>
            <a:r>
              <a:rPr lang="zh-CN" altLang="en-US"/>
              <a:t>原生</a:t>
            </a:r>
            <a:r>
              <a:rPr lang="en-US" altLang="zh-CN"/>
              <a:t>rpc</a:t>
            </a:r>
            <a:r>
              <a:rPr lang="zh-CN" altLang="en-US"/>
              <a:t>库的方法，加一层</a:t>
            </a:r>
            <a:r>
              <a:rPr lang="en-US" altLang="zh-CN"/>
              <a:t>timeout</a:t>
            </a:r>
            <a:r>
              <a:rPr lang="zh-CN" altLang="en-US"/>
              <a:t>封装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一、</a:t>
            </a:r>
            <a:r>
              <a:rPr lang="en-US" altLang="zh-CN"/>
              <a:t>transport</a:t>
            </a:r>
            <a:r>
              <a:rPr lang="zh-CN" altLang="en-US"/>
              <a:t>线程</a:t>
            </a:r>
            <a:r>
              <a:rPr lang="zh-CN" altLang="en-US"/>
              <a:t>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0835" y="1646555"/>
            <a:ext cx="6015355" cy="4351655"/>
          </a:xfrm>
        </p:spPr>
        <p:txBody>
          <a:bodyPr>
            <a:normAutofit fontScale="90000" lnSpcReduction="10000"/>
          </a:bodyPr>
          <a:p>
            <a:pPr>
              <a:lnSpc>
                <a:spcPct val="120000"/>
              </a:lnSpc>
            </a:pPr>
            <a:r>
              <a:rPr lang="en-US" altLang="zh-CN"/>
              <a:t>threadTransport</a:t>
            </a:r>
            <a:r>
              <a:rPr lang="zh-CN" altLang="en-US"/>
              <a:t>是每个节点共用的，节点初始化时把一个自己的</a:t>
            </a:r>
            <a:r>
              <a:rPr lang="en-US" altLang="zh-CN"/>
              <a:t>chan</a:t>
            </a:r>
            <a:r>
              <a:rPr lang="zh-CN" altLang="en-US"/>
              <a:t>注册进里面的</a:t>
            </a:r>
            <a:r>
              <a:rPr lang="en-US" altLang="zh-CN"/>
              <a:t>map</a:t>
            </a:r>
            <a:r>
              <a:rPr lang="zh-CN" altLang="en-US"/>
              <a:t>，然后</a:t>
            </a:r>
            <a:r>
              <a:rPr lang="en-US" altLang="zh-CN"/>
              <a:t>go</a:t>
            </a:r>
            <a:r>
              <a:rPr lang="zh-CN" altLang="en-US"/>
              <a:t>一个线程去监听它，收到</a:t>
            </a:r>
            <a:r>
              <a:rPr lang="en-US" altLang="zh-CN"/>
              <a:t>req</a:t>
            </a:r>
            <a:r>
              <a:rPr lang="zh-CN" altLang="en-US"/>
              <a:t>后去调用自己对应的</a:t>
            </a:r>
            <a:r>
              <a:rPr lang="zh-CN" altLang="en-US"/>
              <a:t>函数</a:t>
            </a:r>
            <a:endParaRPr lang="zh-CN" altLang="en-US"/>
          </a:p>
          <a:p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/>
              <a:t>因此，线程版的</a:t>
            </a:r>
            <a:r>
              <a:rPr lang="en-US" altLang="zh-CN"/>
              <a:t>dial</a:t>
            </a:r>
            <a:r>
              <a:rPr lang="zh-CN" altLang="en-US"/>
              <a:t>，就是从公共的</a:t>
            </a:r>
            <a:r>
              <a:rPr lang="en-US" altLang="zh-CN">
                <a:sym typeface="+mn-ea"/>
              </a:rPr>
              <a:t>threadTransport</a:t>
            </a:r>
            <a:r>
              <a:rPr lang="zh-CN" altLang="en-US">
                <a:sym typeface="+mn-ea"/>
              </a:rPr>
              <a:t>里拿到目标节点的</a:t>
            </a:r>
            <a:r>
              <a:rPr lang="en-US" altLang="zh-CN">
                <a:sym typeface="+mn-ea"/>
              </a:rPr>
              <a:t>chan</a:t>
            </a:r>
            <a:r>
              <a:rPr lang="zh-CN" altLang="en-US">
                <a:sym typeface="+mn-ea"/>
              </a:rPr>
              <a:t>（封装成假的</a:t>
            </a:r>
            <a:r>
              <a:rPr lang="en-US" altLang="zh-CN">
                <a:sym typeface="+mn-ea"/>
              </a:rPr>
              <a:t>client</a:t>
            </a:r>
            <a:r>
              <a:rPr lang="zh-CN" altLang="en-US">
                <a:sym typeface="+mn-ea"/>
              </a:rPr>
              <a:t>），而</a:t>
            </a:r>
            <a:r>
              <a:rPr lang="en-US" altLang="zh-CN">
                <a:sym typeface="+mn-ea"/>
              </a:rPr>
              <a:t>call</a:t>
            </a:r>
            <a:r>
              <a:rPr lang="zh-CN" altLang="en-US">
                <a:sym typeface="+mn-ea"/>
              </a:rPr>
              <a:t>就是把对应的方法名、参数封装成</a:t>
            </a:r>
            <a:r>
              <a:rPr lang="en-US" altLang="zh-CN">
                <a:sym typeface="+mn-ea"/>
              </a:rPr>
              <a:t>req</a:t>
            </a:r>
            <a:r>
              <a:rPr lang="zh-CN" altLang="en-US">
                <a:sym typeface="+mn-ea"/>
              </a:rPr>
              <a:t>，写进</a:t>
            </a:r>
            <a:r>
              <a:rPr lang="zh-CN" altLang="en-US">
                <a:sym typeface="+mn-ea"/>
              </a:rPr>
              <a:t>拿到的</a:t>
            </a:r>
            <a:r>
              <a:rPr lang="en-US" altLang="zh-CN">
                <a:sym typeface="+mn-ea"/>
              </a:rPr>
              <a:t>chan</a:t>
            </a:r>
            <a:endParaRPr lang="en-US" altLang="zh-CN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0465" y="260350"/>
            <a:ext cx="5931535" cy="6263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二、细粒度控制下的</a:t>
            </a:r>
            <a:r>
              <a:rPr lang="zh-CN" altLang="en-US"/>
              <a:t>单元测试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2605" y="1825625"/>
            <a:ext cx="10515600" cy="4351338"/>
          </a:xfrm>
        </p:spPr>
        <p:txBody>
          <a:bodyPr/>
          <a:p>
            <a:r>
              <a:rPr lang="zh-CN" altLang="en-US"/>
              <a:t>线程版相比进程版的</a:t>
            </a:r>
            <a:r>
              <a:rPr lang="zh-CN" altLang="en-US"/>
              <a:t>优势：</a:t>
            </a:r>
            <a:endParaRPr lang="zh-CN" altLang="en-US"/>
          </a:p>
          <a:p>
            <a:pPr lvl="1"/>
            <a:r>
              <a:rPr lang="zh-CN" altLang="en-US"/>
              <a:t>可以轻松拿到每个</a:t>
            </a:r>
            <a:r>
              <a:rPr lang="en-US" altLang="zh-CN"/>
              <a:t>node</a:t>
            </a:r>
            <a:r>
              <a:rPr lang="zh-CN" altLang="en-US"/>
              <a:t>的所有数据</a:t>
            </a:r>
            <a:endParaRPr lang="zh-CN" altLang="en-US"/>
          </a:p>
          <a:p>
            <a:pPr lvl="1"/>
            <a:r>
              <a:rPr lang="zh-CN" altLang="en-US"/>
              <a:t>可以解耦合地调用系统中的功能函数进行</a:t>
            </a:r>
            <a:r>
              <a:rPr lang="zh-CN" altLang="en-US"/>
              <a:t>测试</a:t>
            </a:r>
            <a:endParaRPr lang="zh-CN" altLang="en-US"/>
          </a:p>
          <a:p>
            <a:pPr lvl="1"/>
            <a:r>
              <a:rPr lang="zh-CN" altLang="en-US"/>
              <a:t>可以把所有的模拟状态写在</a:t>
            </a:r>
            <a:r>
              <a:rPr lang="en-US" altLang="zh-CN"/>
              <a:t>threadTransport</a:t>
            </a:r>
            <a:r>
              <a:rPr lang="zh-CN" altLang="en-US"/>
              <a:t>里</a:t>
            </a:r>
            <a:endParaRPr lang="zh-CN" altLang="en-US"/>
          </a:p>
          <a:p>
            <a:pPr lvl="1"/>
            <a:endParaRPr lang="zh-CN" altLang="en-US"/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新增的测试</a:t>
            </a:r>
            <a:r>
              <a:rPr lang="zh-CN" altLang="en-US">
                <a:solidFill>
                  <a:schemeClr val="tx1"/>
                </a:solidFill>
              </a:rPr>
              <a:t>手段：</a:t>
            </a:r>
            <a:endParaRPr lang="zh-CN" altLang="en-US">
              <a:solidFill>
                <a:schemeClr val="tx1"/>
              </a:solidFill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网络分区</a:t>
            </a:r>
            <a:endParaRPr lang="zh-CN" altLang="en-US">
              <a:solidFill>
                <a:schemeClr val="tx1"/>
              </a:solidFill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每条通讯的</a:t>
            </a:r>
            <a:r>
              <a:rPr lang="en-US" altLang="zh-CN">
                <a:solidFill>
                  <a:schemeClr val="tx1"/>
                </a:solidFill>
              </a:rPr>
              <a:t>fail delay retry</a:t>
            </a:r>
            <a:r>
              <a:rPr lang="zh-CN" altLang="en-US">
                <a:solidFill>
                  <a:schemeClr val="tx1"/>
                </a:solidFill>
              </a:rPr>
              <a:t>模拟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48878" b="22884"/>
          <a:stretch>
            <a:fillRect/>
          </a:stretch>
        </p:blipFill>
        <p:spPr>
          <a:xfrm>
            <a:off x="5234305" y="3732530"/>
            <a:ext cx="6826250" cy="2372995"/>
          </a:xfrm>
          <a:prstGeom prst="rect">
            <a:avLst/>
          </a:prstGeom>
        </p:spPr>
      </p:pic>
      <p:sp>
        <p:nvSpPr>
          <p:cNvPr id="5" name="左大括号 4"/>
          <p:cNvSpPr/>
          <p:nvPr/>
        </p:nvSpPr>
        <p:spPr>
          <a:xfrm>
            <a:off x="5415915" y="5201920"/>
            <a:ext cx="197485" cy="513715"/>
          </a:xfrm>
          <a:prstGeom prst="leftBrace">
            <a:avLst>
              <a:gd name="adj1" fmla="val 8333"/>
              <a:gd name="adj2" fmla="val 51297"/>
            </a:avLst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二、细粒度控制下的单元测试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Leader 选举</a:t>
            </a:r>
            <a:endParaRPr lang="zh-CN" altLang="en-US"/>
          </a:p>
          <a:p>
            <a:r>
              <a:rPr lang="zh-CN" altLang="en-US"/>
              <a:t>日志复制</a:t>
            </a:r>
            <a:endParaRPr lang="zh-CN" altLang="en-US"/>
          </a:p>
          <a:p>
            <a:r>
              <a:rPr lang="zh-CN" altLang="en-US"/>
              <a:t>崩溃恢复</a:t>
            </a:r>
            <a:endParaRPr lang="zh-CN" altLang="en-US"/>
          </a:p>
          <a:p>
            <a:r>
              <a:rPr lang="zh-CN" altLang="en-US"/>
              <a:t>网络分区</a:t>
            </a:r>
            <a:endParaRPr lang="zh-CN" altLang="en-US"/>
          </a:p>
          <a:p>
            <a:r>
              <a:rPr lang="zh-CN" altLang="en-US"/>
              <a:t>客户端交互</a:t>
            </a:r>
            <a:endParaRPr lang="zh-CN" altLang="en-US"/>
          </a:p>
        </p:txBody>
      </p:sp>
      <p:sp>
        <p:nvSpPr>
          <p:cNvPr id="4" name="右大括号 3"/>
          <p:cNvSpPr/>
          <p:nvPr/>
        </p:nvSpPr>
        <p:spPr>
          <a:xfrm>
            <a:off x="4679950" y="1981200"/>
            <a:ext cx="883920" cy="22752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293485" y="2747010"/>
            <a:ext cx="4704080" cy="1808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/>
              <a:t>消息异常的模拟</a:t>
            </a:r>
            <a:endParaRPr lang="zh-CN" altLang="en-US"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三、</a:t>
            </a:r>
            <a:r>
              <a:rPr lang="en-US" altLang="zh-CN"/>
              <a:t>fuzz test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10000"/>
              </a:lnSpc>
            </a:pPr>
            <a:r>
              <a:rPr lang="en-US" altLang="zh-CN"/>
              <a:t>basic: </a:t>
            </a:r>
            <a:r>
              <a:rPr lang="zh-CN" altLang="en-US"/>
              <a:t>每次</a:t>
            </a:r>
            <a:r>
              <a:rPr lang="en-US" altLang="zh-CN"/>
              <a:t>fuzz</a:t>
            </a:r>
            <a:r>
              <a:rPr lang="zh-CN" altLang="en-US"/>
              <a:t>随机的</a:t>
            </a:r>
            <a:r>
              <a:rPr lang="en-US" altLang="zh-CN"/>
              <a:t>node</a:t>
            </a:r>
            <a:r>
              <a:rPr lang="zh-CN" altLang="en-US"/>
              <a:t>数量配置</a:t>
            </a:r>
            <a:r>
              <a:rPr lang="zh-CN" altLang="en-US"/>
              <a:t>启动、随机的半数</a:t>
            </a:r>
            <a:r>
              <a:rPr lang="zh-CN" altLang="en-US"/>
              <a:t>以下</a:t>
            </a:r>
            <a:r>
              <a:rPr lang="en-US" altLang="zh-CN"/>
              <a:t>node</a:t>
            </a:r>
            <a:r>
              <a:rPr lang="zh-CN" altLang="en-US"/>
              <a:t>出现</a:t>
            </a:r>
            <a:r>
              <a:rPr lang="zh-CN" altLang="en-US"/>
              <a:t>消息异常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robust: </a:t>
            </a:r>
            <a:r>
              <a:rPr lang="zh-CN" altLang="en-US"/>
              <a:t>一个特定的配置长时间运行，每次</a:t>
            </a:r>
            <a:r>
              <a:rPr lang="en-US" altLang="zh-CN"/>
              <a:t>fuzz</a:t>
            </a:r>
            <a:r>
              <a:rPr lang="zh-CN" altLang="en-US">
                <a:sym typeface="+mn-ea"/>
              </a:rPr>
              <a:t>随机的半数以下</a:t>
            </a:r>
            <a:r>
              <a:rPr lang="en-US" altLang="zh-CN">
                <a:sym typeface="+mn-ea"/>
              </a:rPr>
              <a:t>node</a:t>
            </a:r>
            <a:r>
              <a:rPr lang="zh-CN" altLang="en-US">
                <a:sym typeface="+mn-ea"/>
              </a:rPr>
              <a:t>出现消息异常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崩溃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分区</a:t>
            </a:r>
            <a:endParaRPr lang="zh-CN" altLang="en-US"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>
                <a:sym typeface="+mn-ea"/>
              </a:rPr>
              <a:t>plus: </a:t>
            </a:r>
            <a:r>
              <a:rPr lang="zh-CN" altLang="en-US">
                <a:sym typeface="+mn-ea"/>
              </a:rPr>
              <a:t>每次</a:t>
            </a:r>
            <a:r>
              <a:rPr lang="en-US" altLang="zh-CN">
                <a:sym typeface="+mn-ea"/>
              </a:rPr>
              <a:t>fuzz</a:t>
            </a:r>
            <a:r>
              <a:rPr lang="zh-CN" altLang="en-US">
                <a:sym typeface="+mn-ea"/>
              </a:rPr>
              <a:t>随机的</a:t>
            </a:r>
            <a:r>
              <a:rPr lang="en-US" altLang="zh-CN">
                <a:sym typeface="+mn-ea"/>
              </a:rPr>
              <a:t>node</a:t>
            </a:r>
            <a:r>
              <a:rPr lang="zh-CN" altLang="en-US">
                <a:sym typeface="+mn-ea"/>
              </a:rPr>
              <a:t>数量配置启动，</a:t>
            </a:r>
            <a:r>
              <a:rPr lang="zh-CN" altLang="en-US">
                <a:sym typeface="+mn-ea"/>
              </a:rPr>
              <a:t>随机的半数以下</a:t>
            </a:r>
            <a:r>
              <a:rPr lang="en-US" altLang="zh-CN">
                <a:sym typeface="+mn-ea"/>
              </a:rPr>
              <a:t>node</a:t>
            </a:r>
            <a:r>
              <a:rPr lang="zh-CN" altLang="en-US">
                <a:sym typeface="+mn-ea"/>
              </a:rPr>
              <a:t>出现消息异常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崩溃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分区多次，直到单个的</a:t>
            </a:r>
            <a:r>
              <a:rPr lang="en-US" altLang="zh-CN">
                <a:sym typeface="+mn-ea"/>
              </a:rPr>
              <a:t>fuzz</a:t>
            </a:r>
            <a:r>
              <a:rPr lang="zh-CN" altLang="en-US">
                <a:sym typeface="+mn-ea"/>
              </a:rPr>
              <a:t>测试时间上限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三、</a:t>
            </a:r>
            <a:r>
              <a:rPr lang="en-US" altLang="zh-CN">
                <a:sym typeface="+mn-ea"/>
              </a:rPr>
              <a:t>fuzz test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23670"/>
            <a:ext cx="10515600" cy="4351338"/>
          </a:xfrm>
        </p:spPr>
        <p:txBody>
          <a:bodyPr/>
          <a:p>
            <a:pPr>
              <a:lnSpc>
                <a:spcPct val="100000"/>
              </a:lnSpc>
            </a:pPr>
            <a:r>
              <a:rPr lang="zh-CN" altLang="en-US" sz="3200"/>
              <a:t>问题：</a:t>
            </a:r>
            <a:r>
              <a:rPr lang="en-US" altLang="zh-CN" sz="3200"/>
              <a:t>fuzz</a:t>
            </a:r>
            <a:r>
              <a:rPr lang="zh-CN" altLang="en-US" sz="3200"/>
              <a:t>的测试在子进程中完成，不会暴露错误样例的日志，而即使运行错误样例的种子也不一定能</a:t>
            </a:r>
            <a:r>
              <a:rPr lang="zh-CN" altLang="en-US" sz="3200"/>
              <a:t>复现</a:t>
            </a:r>
            <a:endParaRPr lang="zh-CN" altLang="en-US" sz="3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" y="2460625"/>
            <a:ext cx="12138025" cy="24638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8185" y="4924425"/>
            <a:ext cx="10168255" cy="1649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00B0F0"/>
                </a:solidFill>
              </a:rPr>
              <a:t>调试技巧</a:t>
            </a:r>
            <a:r>
              <a:rPr lang="zh-CN" altLang="en-US" sz="2000"/>
              <a:t>：在系统每个</a:t>
            </a:r>
            <a:r>
              <a:rPr lang="en-US" altLang="zh-CN" sz="2000"/>
              <a:t>go routine</a:t>
            </a:r>
            <a:r>
              <a:rPr lang="zh-CN" altLang="en-US" sz="2000"/>
              <a:t>开始时</a:t>
            </a:r>
            <a:r>
              <a:rPr lang="en-US" altLang="zh-CN" sz="2000"/>
              <a:t>defer</a:t>
            </a:r>
            <a:r>
              <a:rPr lang="zh-CN" altLang="en-US" sz="2000"/>
              <a:t>一个函数，捕获</a:t>
            </a:r>
            <a:r>
              <a:rPr lang="en-US" altLang="zh-CN" sz="2000"/>
              <a:t>panic</a:t>
            </a:r>
            <a:r>
              <a:rPr lang="zh-CN" altLang="en-US" sz="2000"/>
              <a:t>时把错误写在</a:t>
            </a:r>
            <a:r>
              <a:rPr lang="zh-CN" altLang="en-US" sz="2000"/>
              <a:t>文件中</a:t>
            </a:r>
            <a:endParaRPr lang="zh-CN" altLang="en-US" sz="2000"/>
          </a:p>
          <a:p>
            <a:endParaRPr lang="zh-CN" altLang="en-US" sz="2000"/>
          </a:p>
          <a:p>
            <a:r>
              <a:rPr lang="en-US" altLang="zh-CN" sz="2000"/>
              <a:t>      	     </a:t>
            </a:r>
            <a:r>
              <a:rPr lang="zh-CN" altLang="en-US" sz="2000"/>
              <a:t>让</a:t>
            </a:r>
            <a:r>
              <a:rPr lang="en-US" altLang="zh-CN" sz="2000"/>
              <a:t>fuzz</a:t>
            </a:r>
            <a:r>
              <a:rPr lang="zh-CN" altLang="en-US" sz="2000"/>
              <a:t>随机决定的东西多一些，复现的可能性</a:t>
            </a:r>
            <a:r>
              <a:rPr lang="zh-CN" altLang="en-US" sz="2000"/>
              <a:t>更大</a:t>
            </a:r>
            <a:endParaRPr lang="zh-CN" altLang="en-US" sz="2000"/>
          </a:p>
          <a:p>
            <a:endParaRPr lang="zh-CN" altLang="en-US" sz="2000"/>
          </a:p>
          <a:p>
            <a:r>
              <a:rPr lang="en-US" altLang="zh-CN" sz="2000"/>
              <a:t>   	     </a:t>
            </a:r>
            <a:r>
              <a:rPr lang="zh-CN" altLang="en-US" sz="2000"/>
              <a:t>多个种子都不能复现，很可能是测试超时</a:t>
            </a:r>
            <a:r>
              <a:rPr lang="zh-CN" altLang="en-US" sz="2000"/>
              <a:t>错误</a:t>
            </a:r>
            <a:endParaRPr lang="zh-CN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三、</a:t>
            </a:r>
            <a:r>
              <a:rPr lang="en-US" altLang="zh-CN">
                <a:sym typeface="+mn-ea"/>
              </a:rPr>
              <a:t>fuzz test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36370"/>
            <a:ext cx="10515600" cy="4351338"/>
          </a:xfrm>
        </p:spPr>
        <p:txBody>
          <a:bodyPr/>
          <a:p>
            <a:r>
              <a:rPr lang="en-US" altLang="zh-CN"/>
              <a:t>TLA</a:t>
            </a:r>
            <a:r>
              <a:rPr lang="zh-CN" altLang="en-US"/>
              <a:t>结合：在大模型的</a:t>
            </a:r>
            <a:r>
              <a:rPr lang="zh-CN" altLang="en-US"/>
              <a:t>帮助下学习</a:t>
            </a:r>
            <a:r>
              <a:rPr lang="en-US" altLang="zh-CN"/>
              <a:t>raft</a:t>
            </a:r>
            <a:r>
              <a:rPr lang="zh-CN" altLang="en-US"/>
              <a:t>的</a:t>
            </a:r>
            <a:r>
              <a:rPr lang="en-US" altLang="zh-CN"/>
              <a:t>TLA</a:t>
            </a:r>
            <a:r>
              <a:rPr lang="zh-CN" altLang="en-US"/>
              <a:t>标准文件，总结了算法中的几个不变量，加入测试的</a:t>
            </a:r>
            <a:r>
              <a:rPr lang="zh-CN" altLang="en-US"/>
              <a:t>断言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990" y="2425700"/>
            <a:ext cx="9255125" cy="41789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4945"/>
            <a:ext cx="10515600" cy="1325563"/>
          </a:xfrm>
        </p:spPr>
        <p:txBody>
          <a:bodyPr/>
          <a:p>
            <a:r>
              <a:rPr lang="zh-CN" altLang="en-US">
                <a:sym typeface="+mn-ea"/>
              </a:rPr>
              <a:t>三、</a:t>
            </a:r>
            <a:r>
              <a:rPr lang="en-US" altLang="zh-CN">
                <a:sym typeface="+mn-ea"/>
              </a:rPr>
              <a:t>fuzz test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7730" y="1457960"/>
            <a:ext cx="10515600" cy="4351338"/>
          </a:xfrm>
        </p:spPr>
        <p:txBody>
          <a:bodyPr/>
          <a:p>
            <a:r>
              <a:rPr lang="zh-CN" altLang="en-US"/>
              <a:t>测试均能在长时间稳定</a:t>
            </a:r>
            <a:r>
              <a:rPr lang="zh-CN" altLang="en-US"/>
              <a:t>运行，不产生</a:t>
            </a:r>
            <a:r>
              <a:rPr lang="zh-CN" altLang="en-US"/>
              <a:t>错误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1755" y="2042795"/>
            <a:ext cx="6967855" cy="4489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四、一些</a:t>
            </a:r>
            <a:r>
              <a:rPr lang="en-US" altLang="zh-CN"/>
              <a:t>bug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6855"/>
            <a:ext cx="10515600" cy="4351338"/>
          </a:xfrm>
        </p:spPr>
        <p:txBody>
          <a:bodyPr/>
          <a:p>
            <a:pPr>
              <a:lnSpc>
                <a:spcPct val="100000"/>
              </a:lnSpc>
            </a:pPr>
            <a:r>
              <a:rPr lang="zh-CN" altLang="en-US"/>
              <a:t>伪同步接口的异步语义陷阱：</a:t>
            </a:r>
            <a:r>
              <a:rPr lang="en-US" altLang="zh-CN"/>
              <a:t>call</a:t>
            </a:r>
            <a:r>
              <a:rPr lang="zh-CN" altLang="en-US"/>
              <a:t>看似是同步的，但实际上对方因为延迟重试等问题，执行正在异步</a:t>
            </a:r>
            <a:r>
              <a:rPr lang="zh-CN" altLang="en-US"/>
              <a:t>发生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" y="2944495"/>
            <a:ext cx="11166475" cy="28619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3430" y="142875"/>
            <a:ext cx="10515600" cy="1325563"/>
          </a:xfrm>
        </p:spPr>
        <p:txBody>
          <a:bodyPr/>
          <a:p>
            <a:r>
              <a:rPr lang="zh-CN" altLang="en-US">
                <a:sym typeface="+mn-ea"/>
              </a:rPr>
              <a:t>一些</a:t>
            </a:r>
            <a:r>
              <a:rPr lang="en-US" altLang="zh-CN">
                <a:sym typeface="+mn-ea"/>
              </a:rPr>
              <a:t>bug</a:t>
            </a: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3245" y="1158875"/>
            <a:ext cx="11122025" cy="24803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1145" y="3829685"/>
            <a:ext cx="3926205" cy="1878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zh-CN" altLang="en-US" sz="2800"/>
              <a:t>发现手段：</a:t>
            </a:r>
            <a:r>
              <a:rPr lang="en-US" altLang="zh-CN" sz="2800"/>
              <a:t>fuzz</a:t>
            </a:r>
            <a:r>
              <a:rPr lang="zh-CN" altLang="en-US" sz="2800"/>
              <a:t>的</a:t>
            </a:r>
            <a:r>
              <a:rPr lang="en-US" altLang="zh-CN" sz="2800"/>
              <a:t>race</a:t>
            </a:r>
            <a:r>
              <a:rPr lang="zh-CN" altLang="en-US" sz="2800"/>
              <a:t>检查，通过调试技巧中的</a:t>
            </a:r>
            <a:r>
              <a:rPr lang="en-US" altLang="zh-CN" sz="2800"/>
              <a:t>defer</a:t>
            </a:r>
            <a:r>
              <a:rPr lang="zh-CN" altLang="en-US" sz="2800"/>
              <a:t>追踪记录到文件</a:t>
            </a:r>
            <a:endParaRPr lang="zh-CN" altLang="en-US" sz="2800"/>
          </a:p>
          <a:p>
            <a:pPr>
              <a:lnSpc>
                <a:spcPct val="110000"/>
              </a:lnSpc>
            </a:pPr>
            <a:endParaRPr lang="zh-CN" altLang="en-US" sz="2800"/>
          </a:p>
          <a:p>
            <a:pPr>
              <a:lnSpc>
                <a:spcPct val="110000"/>
              </a:lnSpc>
            </a:pPr>
            <a:r>
              <a:rPr lang="zh-CN" altLang="en-US" sz="2800"/>
              <a:t>解决办法：锁（</a:t>
            </a:r>
            <a:r>
              <a:rPr lang="zh-CN" altLang="en-US" sz="2800"/>
              <a:t>×）</a:t>
            </a:r>
            <a:endParaRPr lang="zh-CN" altLang="en-US" sz="2800"/>
          </a:p>
          <a:p>
            <a:pPr marL="1371600" lvl="3" indent="457200">
              <a:lnSpc>
                <a:spcPct val="110000"/>
              </a:lnSpc>
            </a:pPr>
            <a:r>
              <a:rPr lang="zh-CN" altLang="en-US" sz="2800"/>
              <a:t>复制</a:t>
            </a:r>
            <a:r>
              <a:rPr lang="zh-CN" altLang="en-US" sz="2800"/>
              <a:t>参数</a:t>
            </a:r>
            <a:endParaRPr lang="zh-CN" altLang="en-US" sz="2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530" y="3968115"/>
            <a:ext cx="7925435" cy="22282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3430" y="142875"/>
            <a:ext cx="10515600" cy="1325563"/>
          </a:xfrm>
        </p:spPr>
        <p:txBody>
          <a:bodyPr/>
          <a:p>
            <a:r>
              <a:rPr lang="zh-CN" altLang="en-US">
                <a:sym typeface="+mn-ea"/>
              </a:rPr>
              <a:t>一些</a:t>
            </a:r>
            <a:r>
              <a:rPr lang="en-US" altLang="zh-CN">
                <a:sym typeface="+mn-ea"/>
              </a:rPr>
              <a:t>bug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3430" y="1253490"/>
            <a:ext cx="10515600" cy="4351338"/>
          </a:xfrm>
        </p:spPr>
        <p:txBody>
          <a:bodyPr>
            <a:noAutofit/>
          </a:bodyPr>
          <a:p>
            <a:r>
              <a:rPr lang="zh-CN" altLang="en-US" sz="2300"/>
              <a:t>测试和系统混合产生的</a:t>
            </a:r>
            <a:r>
              <a:rPr lang="en-US" altLang="zh-CN" sz="2300"/>
              <a:t>bug</a:t>
            </a:r>
            <a:endParaRPr lang="en-US" altLang="zh-CN" sz="2300"/>
          </a:p>
          <a:p>
            <a:endParaRPr lang="en-US" altLang="zh-CN" sz="2300"/>
          </a:p>
          <a:p>
            <a:pPr lvl="1">
              <a:lnSpc>
                <a:spcPct val="110000"/>
              </a:lnSpc>
            </a:pPr>
            <a:r>
              <a:rPr lang="en-US" altLang="zh-CN" sz="2300"/>
              <a:t>delay</a:t>
            </a:r>
            <a:r>
              <a:rPr lang="zh-CN" altLang="en-US" sz="2300"/>
              <a:t>模拟</a:t>
            </a:r>
            <a:r>
              <a:rPr lang="en-US" altLang="zh-CN" sz="2300"/>
              <a:t>写在了监听线程里</a:t>
            </a:r>
            <a:r>
              <a:rPr lang="zh-CN" altLang="en-US" sz="2300"/>
              <a:t>，错误阻塞了监听线程一段时间</a:t>
            </a:r>
            <a:r>
              <a:rPr lang="en-US" altLang="zh-CN" sz="2300"/>
              <a:t>，导致chan大量阻塞，close的select太晚，被认定为测试超时错误</a:t>
            </a:r>
            <a:endParaRPr lang="en-US" altLang="zh-CN" sz="2300"/>
          </a:p>
          <a:p>
            <a:pPr lvl="1">
              <a:lnSpc>
                <a:spcPct val="110000"/>
              </a:lnSpc>
            </a:pPr>
            <a:endParaRPr lang="en-US" altLang="zh-CN" sz="2300"/>
          </a:p>
          <a:p>
            <a:pPr lvl="1">
              <a:lnSpc>
                <a:spcPct val="110000"/>
              </a:lnSpc>
            </a:pPr>
            <a:r>
              <a:rPr lang="en-US" altLang="zh-CN" sz="2300"/>
              <a:t>测试完删除数据库，</a:t>
            </a:r>
            <a:r>
              <a:rPr lang="zh-CN" altLang="en-US" sz="2300"/>
              <a:t>这一步没有上锁</a:t>
            </a:r>
            <a:r>
              <a:rPr lang="en-US" altLang="zh-CN" sz="2300"/>
              <a:t>，</a:t>
            </a:r>
            <a:r>
              <a:rPr lang="zh-CN" altLang="en-US" sz="2300"/>
              <a:t>之后</a:t>
            </a:r>
            <a:r>
              <a:rPr lang="en-US" altLang="zh-CN" sz="2300"/>
              <a:t>有个被延迟的node append线程还在往数据库写</a:t>
            </a:r>
            <a:endParaRPr lang="en-US" altLang="zh-CN" sz="2300"/>
          </a:p>
          <a:p>
            <a:pPr lvl="1">
              <a:lnSpc>
                <a:spcPct val="110000"/>
              </a:lnSpc>
            </a:pPr>
            <a:endParaRPr lang="en-US" altLang="zh-CN" sz="2300"/>
          </a:p>
          <a:p>
            <a:pPr lvl="1">
              <a:lnSpc>
                <a:spcPct val="110000"/>
              </a:lnSpc>
            </a:pPr>
            <a:r>
              <a:rPr lang="en-US" altLang="zh-CN" sz="2300"/>
              <a:t>Fuzz并发太多导致同一时间打开几百个leveldb，文件系统崩溃了</a:t>
            </a:r>
            <a:r>
              <a:rPr lang="zh-CN" altLang="en-US" sz="2300"/>
              <a:t>（和上一个</a:t>
            </a:r>
            <a:r>
              <a:rPr lang="en-US" altLang="zh-CN" sz="2300"/>
              <a:t>bug</a:t>
            </a:r>
            <a:r>
              <a:rPr lang="zh-CN" altLang="en-US" sz="2300"/>
              <a:t>的报错显示一致，很难排查）</a:t>
            </a:r>
            <a:endParaRPr lang="zh-CN" altLang="en-US" sz="2300"/>
          </a:p>
          <a:p>
            <a:pPr lvl="1">
              <a:lnSpc>
                <a:spcPct val="100000"/>
              </a:lnSpc>
            </a:pPr>
            <a:endParaRPr lang="zh-CN" altLang="en-US" sz="2665"/>
          </a:p>
          <a:p>
            <a:pPr lvl="1">
              <a:lnSpc>
                <a:spcPct val="100000"/>
              </a:lnSpc>
            </a:pPr>
            <a:r>
              <a:rPr lang="zh-CN" altLang="en-US" sz="2300"/>
              <a:t>某个测试分支忘记unlock node</a:t>
            </a:r>
            <a:endParaRPr lang="zh-CN" altLang="en-US" sz="2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5090160" y="2829560"/>
            <a:ext cx="20116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谢谢</a:t>
            </a:r>
            <a:endParaRPr lang="zh-CN" altLang="en-US" sz="72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FiNWVlNjhjMTkxOGE1YmU5YTYyNGNmMmZlMGVkY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1466</Words>
  <Application>WPS 演示</Application>
  <PresentationFormat>宽屏</PresentationFormat>
  <Paragraphs>117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raft系统第二次汇报</vt:lpstr>
      <vt:lpstr>前情提要</vt:lpstr>
      <vt:lpstr>工作进度表</vt:lpstr>
      <vt:lpstr>目录</vt:lpstr>
      <vt:lpstr>一、transport</vt:lpstr>
      <vt:lpstr>一、transport 进程版</vt:lpstr>
      <vt:lpstr>一、transport线程版</vt:lpstr>
      <vt:lpstr>二、细粒度控制下的单元测试</vt:lpstr>
      <vt:lpstr>二、细粒度控制下的单元测试</vt:lpstr>
      <vt:lpstr>三、fuzz test</vt:lpstr>
      <vt:lpstr>三、fuzz test</vt:lpstr>
      <vt:lpstr>三、fuzz test</vt:lpstr>
      <vt:lpstr>三、fuzz test</vt:lpstr>
      <vt:lpstr>四、一些bug</vt:lpstr>
      <vt:lpstr>一些bug</vt:lpstr>
      <vt:lpstr>一些bug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ld</dc:creator>
  <cp:lastModifiedBy>李度</cp:lastModifiedBy>
  <cp:revision>13</cp:revision>
  <dcterms:created xsi:type="dcterms:W3CDTF">2023-08-09T12:44:00Z</dcterms:created>
  <dcterms:modified xsi:type="dcterms:W3CDTF">2025-04-15T06:54:06Z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2052-12.1.0.16417</vt:lpwstr>
  </property>
</Properties>
</file>